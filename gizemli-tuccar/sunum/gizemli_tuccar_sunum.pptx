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66ed7a39-42a3-9231-6471-d70d7bfd611f}">
          <p14:sldIdLst>
            <p14:sldId id="256"/>
            <p14:sldId id="257"/>
          </p14:sldIdLst>
        </p14:section>
        <p14:section name="Oyun" id="{5a7ba147-4c55-0ce9-26ec-08a20b7afd1f}">
          <p14:sldIdLst>
            <p14:sldId id="258"/>
            <p14:sldId id="259"/>
            <p14:sldId id="260"/>
            <p14:sldId id="261"/>
          </p14:sldIdLst>
        </p14:section>
        <p14:section name="Arka plan" id="{61fbc729-f294-53fd-391d-3b7faa7b1cd3}">
          <p14:sldIdLst>
            <p14:sldId id="262"/>
            <p14:sldId id="263"/>
            <p14:sldId id="264"/>
          </p14:sldIdLst>
        </p14:section>
        <p14:section name="Kapanış" id="{6559a0fe-e6cb-cb18-750a-cd70ba969613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tr-TR"/>
              <a:t>7/23/19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Click to edit Master text styles</a:t>
            </a:r>
          </a:p>
          <a:p>
            <a:pPr lvl="1"/>
            <a:r>
              <a:rPr lang="tr-TR"/>
              <a:t>Second level</a:t>
            </a:r>
          </a:p>
          <a:p>
            <a:pPr lvl="2"/>
            <a:r>
              <a:rPr lang="tr-TR"/>
              <a:t>Third level</a:t>
            </a:r>
          </a:p>
          <a:p>
            <a:pPr lvl="3"/>
            <a:r>
              <a:rPr lang="tr-TR"/>
              <a:t>Fourth level</a:t>
            </a:r>
          </a:p>
          <a:p>
            <a:pPr lvl="4"/>
            <a:r>
              <a:rPr lang="tr-TR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tr-TR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[0:30] Merhaba! Bugün size Gizemli Tüccarın Oyunu'nu tanıtacağım. Bu, Python ile yazılmış, Pokémon tarzı bir anime kart savaşı. Karakterler piksel sanatı ve her şey doğrudan terminalde çalışıyor; ek bir kütüphane gerekmiyor. Önce oyunun ne olduğunu, sonra karakterleri ve savaşı, en sonda da arka planı anlatacağım: piksel sanatı terminalde nasıl çiziliyor ve orijinal kodda hangi hatalar vardı.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[1:15] Oyunun fikri tek cümle: terminalde oynanan, 20 karakterli bir anime kart savaşı. Başladığımız yer, 10 karakterli ve hatalı bir koddu; vardığımız yer, piksel sanatlı ve 16 otomatik testle korunan bir oyun. Sağdaki dört adım oyunun döngüsü: kendi destenden bir kart seçiyorsun, Gizemli Tüccar rakibin kartını silüet olarak çekiyor, sırayla savaşıyorsunuz ve rakibin Canı sıfıra inince kazanıyorsun. Şimdi oyunun karakterlerine bakalım.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[0:45] Oyunda 20 karakter var: 10'u senin destende, 10'u rakibin destesinde. Sarı vurgulananlar sonradan eklenen 10 yeni karakter: Vegeta, Tanjiro, Deku, Mikasa, Sailor Moon, Sasuke, Zoro, Gojo, Saitama ve Ichigo. Her karakter 32×36 piksellik bir sprite ve her birinin kendi Can ve Güç değerleri var. Şimdi bir kartın üzerinde neler gördüğümüze geçelim.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[1:15] Kart ekranında karakterin Can ve Güç çubuklarını (1), kendine özgü özel hamlesini (2) ve hikâyesini (3) görüyorsun. Enter ile kartlar arasında geziyorsun, 1'den 10'a kadar numara yazarak istediğin karta atlıyorsun, r tuşuyla rakibin kartlarına bakıyorsun. İsmini yazarak da seçebilirsin; deku ya da moon gibi kısa isimler de çalışıyor. Kartını seçince savaş başlıyor.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[1:45] Savaşta her turda üç seçeneğin var; oyundaki menüde de 1, 2 ve 3 olarak görünüyor. Saldır: hasar karakterin Gücü kadar; yüzde 12,5 ihtimalle kritik vuruş olur ve hasar 1,5 katına çıkar. Özel hamle: savaşta yalnızca bir kez kullanılır, Güç'ün iki katı hasar verir ama yüzde 75 isabet eder. Savun: gelen hasarı yarıya indirir ve bir Can yeniler. Her zaman sen başlıyorsun ve rakip de aynı seçenekleri kullanıyor. Rakibin Canı sıfıra inince kazanırsın.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[1:00] Her özel hamlenin kendi rengi ve bir animasyon türü var: ışın, küre ya da atılma. Ekrandaki kareler Vegeta'nın Final Flash hamlesi: enerji toplanıyor, ışın rakibe ulaşıyor, patlama oluyor ve rakibin Can çubuğu adım adım eriyor. [Demo] Burada terminali açıp python gizemli_tuccar.py yazarak bir tur oynayabilirsin (yaklaşık 1 dakika). Demo yapamazsan 5. slayttaki ekran görüntüsüne dön.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[1:30] Terminalde gerçek piksel yok, o yüzden bir numara kullanıyoruz. Soldaki kutu bir sprite'ın büyütülmüş hâli: her kare tek bir renkte bir piksel. Ortada yarım blok karakteri var: bir karakter hücresinin üst yarısı yazı rengiyle, alt yarısı zemin rengiyle boyanıyor; yani bir hücre iki piksel çiziyor. Sağda oyunun üç modu var: modern terminallerde truecolor, macOS Terminal'de 256 renk, IDLE ya da Thonny gibi renksiz ortamlarda ASCII. Oyun hangisini kullanacağını kendisi seçiyor.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[1:15] Yeni karakterlerin çizimleri tek seferde bırakılmadı: beş ayrı çizim çalışmasının ardından üç bağımsız inceleme yapıldı. Biri benzerliğe, biri piksel işçiliğine, biri de oyun içi teste baktı. En görünür düzeltme Vegeta'nın saçı oldu: alçak bir kubbeydi, uzun bir aleve dönüştü. Ayrıca 256 renkli terminallerde grileşen ya da morlaşan saç ve kıyafet renkleri düzeltildi. Not: Bu çizimler ve incelemeler yapay zekâ (Claude) yardımıyla hazırlandı; sorulursa bunu söylemeyi unutma.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[1:15] Orijinal kodda dört sorun vardı. Birincisi Gon kartında anahtar adlarının farklı olması, yani KeyError. İkincisi daha önemli: kart seçimi sadece bilgisayarın kartlarına baktığı için "Naruto" yazınca kart bir yazı olarak kalıyor ve card['Guc'] satırında TypeError çıkıyordu; alttaki kutu bu hatanın kendisi. Üçüncüsü savaşın kartların Can (Sağlık) değerini kalıcı olarak düşürmesiydi; dördüncüsü oyuncunun hiçbir seçim yapamamasıydı. Hepsi düzeltildi ve testlerle koruma altında.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[1:00] Özetle: 10 karakterli hatalı bir koddan 20 karakterli, piksel sanatlı bir oyuna geldik. Çalıştırmak için tek komut yeterli: python gizemli_tuccar.py. Python 3.7 ve üzeri, en az 80×24 bir terminal gerekiyor ve gizemli_tuccar.py ile sprites.py aynı klasörde olmalı. Tüm kod GitHub'da, gizemli-tuccar klasöründe. Teşekkürler, sorularınız var mı?</a:t>
            </a:r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tr-TR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4114800" cy="2148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tr-TR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40233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tr-TR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tr-TR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000" dirty="0">
                <a:solidFill>
                  <a:schemeClr val="tx2"/>
                </a:solidFill>
              </a:rPr>
              <a:t>Gizemli Tüccarın Oyunu</a:t>
            </a:r>
            <a:endParaRPr lang="tr-TR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tr-TR"/>
              <a:t>1003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tr-TR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tr-TR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tr-TR"/>
              <a:t>null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leoguz160/shopping-list/tree/main/gizemli-tuccar" TargetMode="Externa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68680"/>
            <a:ext cx="4114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4000" b="1" dirty="0">
                <a:solidFill>
                  <a:schemeClr val="bg1"/>
                </a:solidFill>
              </a:rPr>
              <a:t>Gizemli</a:t>
            </a:r>
            <a:endParaRPr lang="tr-TR" sz="4000" dirty="0"/>
          </a:p>
          <a:p>
            <a:pPr algn="l" indent="0" marL="0">
              <a:buNone/>
            </a:pPr>
            <a:r>
              <a:rPr lang="tr-TR" sz="4000" b="1" dirty="0">
                <a:solidFill>
                  <a:schemeClr val="bg1"/>
                </a:solidFill>
              </a:rPr>
              <a:t>Tüccarın</a:t>
            </a:r>
            <a:endParaRPr lang="tr-TR" sz="4000" dirty="0"/>
          </a:p>
          <a:p>
            <a:pPr algn="l" indent="0" marL="0">
              <a:buNone/>
            </a:pPr>
            <a:r>
              <a:rPr lang="tr-TR" sz="4000" b="1" dirty="0">
                <a:solidFill>
                  <a:schemeClr val="bg1"/>
                </a:solidFill>
              </a:rPr>
              <a:t>Oyunu</a:t>
            </a:r>
            <a:endParaRPr lang="tr-TR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1546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600" dirty="0">
                <a:solidFill>
                  <a:schemeClr val="bg2"/>
                </a:solidFill>
              </a:rPr>
              <a:t>Pokémon tarzı, piksel sanatlı anime kart savaşı. Terminalde çalışır.</a:t>
            </a:r>
            <a:endParaRPr lang="tr-TR" sz="1600" dirty="0"/>
          </a:p>
        </p:txBody>
      </p:sp>
      <p:sp>
        <p:nvSpPr>
          <p:cNvPr id="4" name="Özet satırı"/>
          <p:cNvSpPr txBox="1"/>
          <p:nvPr/>
        </p:nvSpPr>
        <p:spPr>
          <a:xfrm>
            <a:off x="548640" y="4206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accent1"/>
                </a:solidFill>
              </a:rPr>
              <a:t>20 karakter  ·  Python  ·  ek kütüphane yok</a:t>
            </a:r>
            <a:endParaRPr lang="tr-TR" sz="1400" dirty="0"/>
          </a:p>
        </p:txBody>
      </p:sp>
      <p:sp>
        <p:nvSpPr>
          <p:cNvPr id="5" name="Terminal çerçevesi"/>
          <p:cNvSpPr/>
          <p:nvPr/>
        </p:nvSpPr>
        <p:spPr>
          <a:xfrm>
            <a:off x="4846320" y="1051560"/>
            <a:ext cx="3840480" cy="2431366"/>
          </a:xfrm>
          <a:prstGeom prst="roundRect">
            <a:avLst>
              <a:gd name="adj" fmla="val 3385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6" name="Pencere noktası 1"/>
          <p:cNvSpPr/>
          <p:nvPr/>
        </p:nvSpPr>
        <p:spPr>
          <a:xfrm>
            <a:off x="4983480" y="1143000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Pencere noktası 2"/>
          <p:cNvSpPr/>
          <p:nvPr/>
        </p:nvSpPr>
        <p:spPr>
          <a:xfrm>
            <a:off x="5148072" y="114300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encere noktası 3"/>
          <p:cNvSpPr/>
          <p:nvPr/>
        </p:nvSpPr>
        <p:spPr>
          <a:xfrm>
            <a:off x="5312664" y="114300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Pencere başlığı"/>
          <p:cNvSpPr txBox="1"/>
          <p:nvPr/>
        </p:nvSpPr>
        <p:spPr>
          <a:xfrm>
            <a:off x="5559552" y="10515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000" dirty="0">
                <a:solidFill>
                  <a:schemeClr val="bg2"/>
                </a:solidFill>
              </a:rPr>
              <a:t>python gizemli_tuccar.py</a:t>
            </a:r>
            <a:endParaRPr lang="tr-TR" sz="1000" dirty="0"/>
          </a:p>
        </p:txBody>
      </p:sp>
      <p:pic>
        <p:nvPicPr>
          <p:cNvPr id="10" name="Oyunun başlık ekranı: Vegeta, Sailor Moon ve Ichigo" descr="Oyunun başlık ekranı: Vegeta, Sailor Moon ve Ichi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9472" y="1325880"/>
            <a:ext cx="3694176" cy="2083894"/>
          </a:xfrm>
          <a:prstGeom prst="rect">
            <a:avLst/>
          </a:prstGeom>
        </p:spPr>
      </p:pic>
      <p:pic>
        <p:nvPicPr>
          <p:cNvPr id="11" name="Sprite 1" descr="Goku sprite'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711526"/>
            <a:ext cx="731520" cy="822960"/>
          </a:xfrm>
          <a:prstGeom prst="rect">
            <a:avLst/>
          </a:prstGeom>
        </p:spPr>
      </p:pic>
      <p:pic>
        <p:nvPicPr>
          <p:cNvPr id="12" name="Sprite 2" descr="Gojo sprite'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11526"/>
            <a:ext cx="731520" cy="822960"/>
          </a:xfrm>
          <a:prstGeom prst="rect">
            <a:avLst/>
          </a:prstGeom>
        </p:spPr>
      </p:pic>
      <p:pic>
        <p:nvPicPr>
          <p:cNvPr id="13" name="Sprite 3" descr="Luffy sprite'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711526"/>
            <a:ext cx="7315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2800" b="1" dirty="0">
                <a:solidFill>
                  <a:schemeClr val="tx1"/>
                </a:solidFill>
              </a:rPr>
              <a:t>Oyun nedir?</a:t>
            </a:r>
            <a:endParaRPr lang="tr-TR" sz="2800" dirty="0"/>
          </a:p>
        </p:txBody>
      </p:sp>
      <p:sp>
        <p:nvSpPr>
          <p:cNvPr id="3" name="Oyunun özeti"/>
          <p:cNvSpPr txBox="1"/>
          <p:nvPr/>
        </p:nvSpPr>
        <p:spPr>
          <a:xfrm>
            <a:off x="457200" y="128016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800"/>
              </a:spcAft>
              <a:buNone/>
            </a:pPr>
            <a:r>
              <a:rPr lang="tr-TR" sz="2200" b="1" dirty="0">
                <a:solidFill>
                  <a:schemeClr val="tx1"/>
                </a:solidFill>
              </a:rPr>
              <a:t>Terminalde oynanan, 20 karakterli bir anime kart savaşı.</a:t>
            </a:r>
            <a:endParaRPr lang="tr-TR" sz="2200" dirty="0"/>
          </a:p>
          <a:p>
            <a:pPr indent="0" marL="0">
              <a:buNone/>
            </a:pPr>
            <a:r>
              <a:rPr lang="tr-TR" sz="1600" b="1" dirty="0">
                <a:solidFill>
                  <a:schemeClr val="tx2"/>
                </a:solidFill>
              </a:rPr>
              <a:t>Başlangıç: </a:t>
            </a:r>
            <a:pPr indent="0" marL="0">
              <a:spcAft>
                <a:spcPts val="1000"/>
              </a:spcAft>
              <a:buNone/>
            </a:pPr>
            <a:r>
              <a:rPr lang="tr-TR" sz="1600" dirty="0">
                <a:solidFill>
                  <a:schemeClr val="tx1"/>
                </a:solidFill>
              </a:rPr>
              <a:t>10 karakterli, hatalı bir Python kodu.</a:t>
            </a:r>
            <a:endParaRPr lang="tr-TR" sz="2200" dirty="0"/>
          </a:p>
          <a:p>
            <a:pPr indent="0" marL="0">
              <a:buNone/>
            </a:pPr>
            <a:r>
              <a:rPr lang="tr-TR" sz="1600" b="1" dirty="0">
                <a:solidFill>
                  <a:schemeClr val="tx2"/>
                </a:solidFill>
              </a:rPr>
              <a:t>Sonuç: </a:t>
            </a:r>
            <a:pPr indent="0" marL="0">
              <a:buNone/>
            </a:pPr>
            <a:r>
              <a:rPr lang="tr-TR" sz="1600" dirty="0">
                <a:solidFill>
                  <a:schemeClr val="tx1"/>
                </a:solidFill>
              </a:rPr>
              <a:t>piksel sanatlı, 16 testle korunan bir oyun.</a:t>
            </a:r>
            <a:endParaRPr lang="tr-TR" sz="2200" dirty="0"/>
          </a:p>
        </p:txBody>
      </p:sp>
      <p:sp>
        <p:nvSpPr>
          <p:cNvPr id="4" name="Rozet 1"/>
          <p:cNvSpPr/>
          <p:nvPr/>
        </p:nvSpPr>
        <p:spPr>
          <a:xfrm>
            <a:off x="5074920" y="137160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Rozet numarası 1"/>
          <p:cNvSpPr txBox="1"/>
          <p:nvPr/>
        </p:nvSpPr>
        <p:spPr>
          <a:xfrm>
            <a:off x="507492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tr-TR" sz="1600" dirty="0"/>
          </a:p>
        </p:txBody>
      </p:sp>
      <p:sp>
        <p:nvSpPr>
          <p:cNvPr id="6" name="Başlık: Kart seç"/>
          <p:cNvSpPr txBox="1"/>
          <p:nvPr/>
        </p:nvSpPr>
        <p:spPr>
          <a:xfrm>
            <a:off x="5715000" y="1280160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Kart seç</a:t>
            </a:r>
            <a:endParaRPr lang="tr-TR" sz="1600" dirty="0"/>
          </a:p>
        </p:txBody>
      </p:sp>
      <p:sp>
        <p:nvSpPr>
          <p:cNvPr id="7" name="Metin: 10 kartlık destenden birini se"/>
          <p:cNvSpPr txBox="1"/>
          <p:nvPr/>
        </p:nvSpPr>
        <p:spPr>
          <a:xfrm>
            <a:off x="5715000" y="16276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10 kartlık destenden birini seçersin</a:t>
            </a:r>
            <a:endParaRPr lang="tr-TR" sz="1400" dirty="0"/>
          </a:p>
        </p:txBody>
      </p:sp>
      <p:sp>
        <p:nvSpPr>
          <p:cNvPr id="8" name="Rozet 2"/>
          <p:cNvSpPr/>
          <p:nvPr/>
        </p:nvSpPr>
        <p:spPr>
          <a:xfrm>
            <a:off x="5074920" y="21762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Rozet numarası 2"/>
          <p:cNvSpPr txBox="1"/>
          <p:nvPr/>
        </p:nvSpPr>
        <p:spPr>
          <a:xfrm>
            <a:off x="5074920" y="21762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tr-TR" sz="1600" dirty="0"/>
          </a:p>
        </p:txBody>
      </p:sp>
      <p:sp>
        <p:nvSpPr>
          <p:cNvPr id="10" name="Başlık: Tüccar çeker"/>
          <p:cNvSpPr txBox="1"/>
          <p:nvPr/>
        </p:nvSpPr>
        <p:spPr>
          <a:xfrm>
            <a:off x="5715000" y="2084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Tüccar çeker</a:t>
            </a:r>
            <a:endParaRPr lang="tr-TR" sz="1600" dirty="0"/>
          </a:p>
        </p:txBody>
      </p:sp>
      <p:sp>
        <p:nvSpPr>
          <p:cNvPr id="11" name="Metin: rakibin kartı silüetle gelir"/>
          <p:cNvSpPr txBox="1"/>
          <p:nvPr/>
        </p:nvSpPr>
        <p:spPr>
          <a:xfrm>
            <a:off x="5715000" y="24323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rakibin kartı silüetle gelir</a:t>
            </a:r>
            <a:endParaRPr lang="tr-TR" sz="1400" dirty="0"/>
          </a:p>
        </p:txBody>
      </p:sp>
      <p:sp>
        <p:nvSpPr>
          <p:cNvPr id="12" name="Rozet 3"/>
          <p:cNvSpPr/>
          <p:nvPr/>
        </p:nvSpPr>
        <p:spPr>
          <a:xfrm>
            <a:off x="5074920" y="298094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Rozet numarası 3"/>
          <p:cNvSpPr txBox="1"/>
          <p:nvPr/>
        </p:nvSpPr>
        <p:spPr>
          <a:xfrm>
            <a:off x="5074920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tr-TR" sz="1600" dirty="0"/>
          </a:p>
        </p:txBody>
      </p:sp>
      <p:sp>
        <p:nvSpPr>
          <p:cNvPr id="14" name="Başlık: Savaş"/>
          <p:cNvSpPr txBox="1"/>
          <p:nvPr/>
        </p:nvSpPr>
        <p:spPr>
          <a:xfrm>
            <a:off x="5715000" y="288950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Savaş</a:t>
            </a:r>
            <a:endParaRPr lang="tr-TR" sz="1600" dirty="0"/>
          </a:p>
        </p:txBody>
      </p:sp>
      <p:sp>
        <p:nvSpPr>
          <p:cNvPr id="15" name="Metin: saldır, özel hamle yap ya da s"/>
          <p:cNvSpPr txBox="1"/>
          <p:nvPr/>
        </p:nvSpPr>
        <p:spPr>
          <a:xfrm>
            <a:off x="5715000" y="323697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saldır, özel hamle yap ya da savun</a:t>
            </a:r>
            <a:endParaRPr lang="tr-TR" sz="1400" dirty="0"/>
          </a:p>
        </p:txBody>
      </p:sp>
      <p:sp>
        <p:nvSpPr>
          <p:cNvPr id="16" name="Rozet 4"/>
          <p:cNvSpPr/>
          <p:nvPr/>
        </p:nvSpPr>
        <p:spPr>
          <a:xfrm>
            <a:off x="5074920" y="378561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Rozet numarası 4"/>
          <p:cNvSpPr txBox="1"/>
          <p:nvPr/>
        </p:nvSpPr>
        <p:spPr>
          <a:xfrm>
            <a:off x="507492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tr-TR" sz="1600" dirty="0"/>
          </a:p>
        </p:txBody>
      </p:sp>
      <p:sp>
        <p:nvSpPr>
          <p:cNvPr id="18" name="Başlık: Kazan"/>
          <p:cNvSpPr txBox="1"/>
          <p:nvPr/>
        </p:nvSpPr>
        <p:spPr>
          <a:xfrm>
            <a:off x="5715000" y="3694176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Kazan</a:t>
            </a:r>
            <a:endParaRPr lang="tr-TR" sz="1600" dirty="0"/>
          </a:p>
        </p:txBody>
      </p:sp>
      <p:sp>
        <p:nvSpPr>
          <p:cNvPr id="19" name="Metin: rakibin Canı 0&amp;apos;a inince"/>
          <p:cNvSpPr txBox="1"/>
          <p:nvPr/>
        </p:nvSpPr>
        <p:spPr>
          <a:xfrm>
            <a:off x="5715000" y="4041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rakibin Canı 0'a inince</a:t>
            </a:r>
            <a:endParaRPr lang="tr-T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tr-TR"/>
              <a:t>2</a:t>
            </a:fld>
            <a:endParaRPr lang="tr-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2800" b="1" dirty="0">
                <a:solidFill>
                  <a:schemeClr val="tx1"/>
                </a:solidFill>
              </a:rPr>
              <a:t>20 anime karakteri</a:t>
            </a:r>
            <a:endParaRPr lang="tr-TR" sz="2800" dirty="0"/>
          </a:p>
        </p:txBody>
      </p:sp>
      <p:sp>
        <p:nvSpPr>
          <p:cNvPr id="3" name="Karakter tablosu zemini"/>
          <p:cNvSpPr/>
          <p:nvPr/>
        </p:nvSpPr>
        <p:spPr>
          <a:xfrm>
            <a:off x="457200" y="1097280"/>
            <a:ext cx="3383280" cy="3328416"/>
          </a:xfrm>
          <a:prstGeom prst="roundRect">
            <a:avLst>
              <a:gd name="adj" fmla="val 1648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4" name="Karakter tablosu" descr="Oyundaki 20 karakterin piksel sanat sprite'ları; alt iki sıra yeni karakterl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52144"/>
            <a:ext cx="3236976" cy="3218120"/>
          </a:xfrm>
          <a:prstGeom prst="rect">
            <a:avLst/>
          </a:prstGeom>
        </p:spPr>
      </p:pic>
      <p:sp>
        <p:nvSpPr>
          <p:cNvPr id="5" name="Başlık: Senin kartların"/>
          <p:cNvSpPr txBox="1"/>
          <p:nvPr/>
        </p:nvSpPr>
        <p:spPr>
          <a:xfrm>
            <a:off x="4206240" y="1115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Senin kartların</a:t>
            </a:r>
            <a:endParaRPr lang="tr-TR" sz="1600" dirty="0"/>
          </a:p>
        </p:txBody>
      </p:sp>
      <p:sp>
        <p:nvSpPr>
          <p:cNvPr id="6" name="Senin kartların listesi"/>
          <p:cNvSpPr txBox="1"/>
          <p:nvPr/>
        </p:nvSpPr>
        <p:spPr>
          <a:xfrm>
            <a:off x="4206240" y="1572768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tr-TR" sz="1400" dirty="0">
                <a:solidFill>
                  <a:schemeClr val="tx1"/>
                </a:solidFill>
              </a:rPr>
              <a:t>Yuji Itadori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dirty="0">
                <a:solidFill>
                  <a:schemeClr val="tx1"/>
                </a:solidFill>
              </a:rPr>
              <a:t>Naruto Uzumaki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dirty="0">
                <a:solidFill>
                  <a:schemeClr val="tx1"/>
                </a:solidFill>
              </a:rPr>
              <a:t>Johnny Joestar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dirty="0">
                <a:solidFill>
                  <a:schemeClr val="tx1"/>
                </a:solidFill>
              </a:rPr>
              <a:t>Shinji Ikari EVA-01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dirty="0">
                <a:solidFill>
                  <a:schemeClr val="tx1"/>
                </a:solidFill>
              </a:rPr>
              <a:t>Gon Freecs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b="1" dirty="0">
                <a:solidFill>
                  <a:schemeClr val="tx1"/>
                </a:solidFill>
                <a:highlight>
                  <a:srgbClr val="FFD640"/>
                </a:highlight>
              </a:rPr>
              <a:t>Vegeta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b="1" dirty="0">
                <a:solidFill>
                  <a:schemeClr val="tx1"/>
                </a:solidFill>
                <a:highlight>
                  <a:srgbClr val="FFD640"/>
                </a:highlight>
              </a:rPr>
              <a:t>Tanjiro Kamado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b="1" dirty="0">
                <a:solidFill>
                  <a:schemeClr val="tx1"/>
                </a:solidFill>
                <a:highlight>
                  <a:srgbClr val="FFD640"/>
                </a:highlight>
              </a:rPr>
              <a:t>Izuku Midoriya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b="1" dirty="0">
                <a:solidFill>
                  <a:schemeClr val="tx1"/>
                </a:solidFill>
                <a:highlight>
                  <a:srgbClr val="FFD640"/>
                </a:highlight>
              </a:rPr>
              <a:t>Mikasa Ackerman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b="1" dirty="0">
                <a:solidFill>
                  <a:schemeClr val="tx1"/>
                </a:solidFill>
                <a:highlight>
                  <a:srgbClr val="FFD640"/>
                </a:highlight>
              </a:rPr>
              <a:t>Sailor Moon</a:t>
            </a:r>
            <a:endParaRPr lang="tr-TR" sz="1400" dirty="0"/>
          </a:p>
        </p:txBody>
      </p:sp>
      <p:sp>
        <p:nvSpPr>
          <p:cNvPr id="7" name="Başlık: Rakibin kartları"/>
          <p:cNvSpPr txBox="1"/>
          <p:nvPr/>
        </p:nvSpPr>
        <p:spPr>
          <a:xfrm>
            <a:off x="6492240" y="11155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Rakibin kartları</a:t>
            </a:r>
            <a:endParaRPr lang="tr-TR" sz="1600" dirty="0"/>
          </a:p>
        </p:txBody>
      </p:sp>
      <p:sp>
        <p:nvSpPr>
          <p:cNvPr id="8" name="Rakibin kartları listesi"/>
          <p:cNvSpPr txBox="1"/>
          <p:nvPr/>
        </p:nvSpPr>
        <p:spPr>
          <a:xfrm>
            <a:off x="6492240" y="1572768"/>
            <a:ext cx="21945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tr-TR" sz="1400" dirty="0">
                <a:solidFill>
                  <a:schemeClr val="tx1"/>
                </a:solidFill>
              </a:rPr>
              <a:t>Dio Brando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dirty="0">
                <a:solidFill>
                  <a:schemeClr val="tx1"/>
                </a:solidFill>
              </a:rPr>
              <a:t>Killua Zoldyck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dirty="0">
                <a:solidFill>
                  <a:schemeClr val="tx1"/>
                </a:solidFill>
              </a:rPr>
              <a:t>Goku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dirty="0">
                <a:solidFill>
                  <a:schemeClr val="tx1"/>
                </a:solidFill>
              </a:rPr>
              <a:t>Spike Spiegel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dirty="0">
                <a:solidFill>
                  <a:schemeClr val="tx1"/>
                </a:solidFill>
              </a:rPr>
              <a:t>Monkey D. Luffy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b="1" dirty="0">
                <a:solidFill>
                  <a:schemeClr val="tx1"/>
                </a:solidFill>
                <a:highlight>
                  <a:srgbClr val="FFD640"/>
                </a:highlight>
              </a:rPr>
              <a:t>Sasuke Uchiha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b="1" dirty="0">
                <a:solidFill>
                  <a:schemeClr val="tx1"/>
                </a:solidFill>
                <a:highlight>
                  <a:srgbClr val="FFD640"/>
                </a:highlight>
              </a:rPr>
              <a:t>Roronoa Zoro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b="1" dirty="0">
                <a:solidFill>
                  <a:schemeClr val="tx1"/>
                </a:solidFill>
                <a:highlight>
                  <a:srgbClr val="FFD640"/>
                </a:highlight>
              </a:rPr>
              <a:t>Gojo Satoru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b="1" dirty="0">
                <a:solidFill>
                  <a:schemeClr val="tx1"/>
                </a:solidFill>
                <a:highlight>
                  <a:srgbClr val="FFD640"/>
                </a:highlight>
              </a:rPr>
              <a:t>Saitama</a:t>
            </a:r>
            <a:endParaRPr lang="tr-TR" sz="1400" dirty="0"/>
          </a:p>
          <a:p>
            <a:pPr algn="l" indent="0" marL="0">
              <a:spcAft>
                <a:spcPts val="200"/>
              </a:spcAft>
              <a:buNone/>
            </a:pPr>
            <a:r>
              <a:rPr lang="tr-TR" sz="1400" b="1" dirty="0">
                <a:solidFill>
                  <a:schemeClr val="tx1"/>
                </a:solidFill>
                <a:highlight>
                  <a:srgbClr val="FFD640"/>
                </a:highlight>
              </a:rPr>
              <a:t>Ichigo Kurosaki</a:t>
            </a:r>
            <a:endParaRPr lang="tr-TR" sz="1400" dirty="0"/>
          </a:p>
        </p:txBody>
      </p:sp>
      <p:sp>
        <p:nvSpPr>
          <p:cNvPr id="9" name="Metin: Sarı vurgu = bu sürümde eklene"/>
          <p:cNvSpPr txBox="1"/>
          <p:nvPr/>
        </p:nvSpPr>
        <p:spPr>
          <a:xfrm>
            <a:off x="4206240" y="4069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Sarı vurgu = bu sürümde eklenen yeni karakter (tablonun alt iki sırası).</a:t>
            </a:r>
            <a:endParaRPr lang="tr-T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tr-TR"/>
              <a:t>3</a:t>
            </a:fld>
            <a:endParaRPr lang="tr-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2800" b="1" dirty="0">
                <a:solidFill>
                  <a:schemeClr val="tx1"/>
                </a:solidFill>
              </a:rPr>
              <a:t>Kart seçimi</a:t>
            </a:r>
            <a:endParaRPr lang="tr-TR" sz="2800" dirty="0"/>
          </a:p>
        </p:txBody>
      </p:sp>
      <p:sp>
        <p:nvSpPr>
          <p:cNvPr id="3" name="Terminal çerçevesi"/>
          <p:cNvSpPr/>
          <p:nvPr/>
        </p:nvSpPr>
        <p:spPr>
          <a:xfrm>
            <a:off x="457200" y="1188720"/>
            <a:ext cx="4937760" cy="3050345"/>
          </a:xfrm>
          <a:prstGeom prst="roundRect">
            <a:avLst>
              <a:gd name="adj" fmla="val 269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Pencere noktası 1"/>
          <p:cNvSpPr/>
          <p:nvPr/>
        </p:nvSpPr>
        <p:spPr>
          <a:xfrm>
            <a:off x="594360" y="1280160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Pencere noktası 2"/>
          <p:cNvSpPr/>
          <p:nvPr/>
        </p:nvSpPr>
        <p:spPr>
          <a:xfrm>
            <a:off x="758952" y="128016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encere noktası 3"/>
          <p:cNvSpPr/>
          <p:nvPr/>
        </p:nvSpPr>
        <p:spPr>
          <a:xfrm>
            <a:off x="923544" y="128016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Pencere başlığı"/>
          <p:cNvSpPr txBox="1"/>
          <p:nvPr/>
        </p:nvSpPr>
        <p:spPr>
          <a:xfrm>
            <a:off x="1170432" y="1188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000" dirty="0">
                <a:solidFill>
                  <a:schemeClr val="bg2"/>
                </a:solidFill>
              </a:rPr>
              <a:t>python gizemli_tuccar.py</a:t>
            </a:r>
            <a:endParaRPr lang="tr-TR" sz="1000" dirty="0"/>
          </a:p>
        </p:txBody>
      </p:sp>
      <p:pic>
        <p:nvPicPr>
          <p:cNvPr id="8" name="Kart seçimi ekranı: Vegeta'nın kartı, Can ve Güç çubukları, özel hamle ve hikâye" descr="Kart seçimi ekranı: Vegeta'nın kartı, Can ve Güç çubukları, özel hamle ve hikây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63040"/>
            <a:ext cx="4791456" cy="2702873"/>
          </a:xfrm>
          <a:prstGeom prst="rect">
            <a:avLst/>
          </a:prstGeom>
        </p:spPr>
      </p:pic>
      <p:sp>
        <p:nvSpPr>
          <p:cNvPr id="9" name="Rozet 1"/>
          <p:cNvSpPr/>
          <p:nvPr/>
        </p:nvSpPr>
        <p:spPr>
          <a:xfrm>
            <a:off x="4170930" y="1786456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Rozet numarası 1"/>
          <p:cNvSpPr txBox="1"/>
          <p:nvPr/>
        </p:nvSpPr>
        <p:spPr>
          <a:xfrm>
            <a:off x="4170930" y="17864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tr-TR" sz="1100" dirty="0"/>
          </a:p>
        </p:txBody>
      </p:sp>
      <p:sp>
        <p:nvSpPr>
          <p:cNvPr id="11" name="Rozet 2"/>
          <p:cNvSpPr/>
          <p:nvPr/>
        </p:nvSpPr>
        <p:spPr>
          <a:xfrm>
            <a:off x="4170930" y="2032172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Rozet numarası 2"/>
          <p:cNvSpPr txBox="1"/>
          <p:nvPr/>
        </p:nvSpPr>
        <p:spPr>
          <a:xfrm>
            <a:off x="4170930" y="20321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tr-TR" sz="1100" dirty="0"/>
          </a:p>
        </p:txBody>
      </p:sp>
      <p:sp>
        <p:nvSpPr>
          <p:cNvPr id="13" name="Rozet 3"/>
          <p:cNvSpPr/>
          <p:nvPr/>
        </p:nvSpPr>
        <p:spPr>
          <a:xfrm>
            <a:off x="3065209" y="3260750"/>
            <a:ext cx="237744" cy="23774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Rozet numarası 3"/>
          <p:cNvSpPr txBox="1"/>
          <p:nvPr/>
        </p:nvSpPr>
        <p:spPr>
          <a:xfrm>
            <a:off x="3065209" y="32607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1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tr-TR" sz="1100" dirty="0"/>
          </a:p>
        </p:txBody>
      </p:sp>
      <p:sp>
        <p:nvSpPr>
          <p:cNvPr id="15" name="Metin: İpucu: kartın ismini yazarak d"/>
          <p:cNvSpPr txBox="1"/>
          <p:nvPr/>
        </p:nvSpPr>
        <p:spPr>
          <a:xfrm>
            <a:off x="457200" y="4330505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</a:rPr>
              <a:t>İpucu: kartın ismini yazarak da seçebilirsin (deku, moon).</a:t>
            </a:r>
            <a:endParaRPr lang="tr-TR" sz="1400" dirty="0"/>
          </a:p>
        </p:txBody>
      </p:sp>
      <p:sp>
        <p:nvSpPr>
          <p:cNvPr id="16" name="Rozet 1"/>
          <p:cNvSpPr/>
          <p:nvPr/>
        </p:nvSpPr>
        <p:spPr>
          <a:xfrm>
            <a:off x="5715000" y="12161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Rozet numarası 1"/>
          <p:cNvSpPr txBox="1"/>
          <p:nvPr/>
        </p:nvSpPr>
        <p:spPr>
          <a:xfrm>
            <a:off x="571500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tr-TR" sz="1600" dirty="0"/>
          </a:p>
        </p:txBody>
      </p:sp>
      <p:sp>
        <p:nvSpPr>
          <p:cNvPr id="18" name="Başlık: Can ve Güç"/>
          <p:cNvSpPr txBox="1"/>
          <p:nvPr/>
        </p:nvSpPr>
        <p:spPr>
          <a:xfrm>
            <a:off x="6309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 ve Güç</a:t>
            </a:r>
            <a:endParaRPr lang="tr-TR" sz="1800" dirty="0"/>
          </a:p>
        </p:txBody>
      </p:sp>
      <p:sp>
        <p:nvSpPr>
          <p:cNvPr id="19" name="Metin: Çubuklar karakterin dayanıklıl"/>
          <p:cNvSpPr txBox="1"/>
          <p:nvPr/>
        </p:nvSpPr>
        <p:spPr>
          <a:xfrm>
            <a:off x="6309360" y="15727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Çubuklar karakterin dayanıklılığını ve vuruş gücünü gösterir.</a:t>
            </a:r>
            <a:endParaRPr lang="tr-TR" sz="1400" dirty="0"/>
          </a:p>
        </p:txBody>
      </p:sp>
      <p:sp>
        <p:nvSpPr>
          <p:cNvPr id="20" name="Rozet 2"/>
          <p:cNvSpPr/>
          <p:nvPr/>
        </p:nvSpPr>
        <p:spPr>
          <a:xfrm>
            <a:off x="5715000" y="23591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Rozet numarası 2"/>
          <p:cNvSpPr txBox="1"/>
          <p:nvPr/>
        </p:nvSpPr>
        <p:spPr>
          <a:xfrm>
            <a:off x="5715000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tr-TR" sz="1600" dirty="0"/>
          </a:p>
        </p:txBody>
      </p:sp>
      <p:sp>
        <p:nvSpPr>
          <p:cNvPr id="22" name="Başlık: Özel hamle"/>
          <p:cNvSpPr txBox="1"/>
          <p:nvPr/>
        </p:nvSpPr>
        <p:spPr>
          <a:xfrm>
            <a:off x="6309360" y="2331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Özel hamle</a:t>
            </a:r>
            <a:endParaRPr lang="tr-TR" sz="1800" dirty="0"/>
          </a:p>
        </p:txBody>
      </p:sp>
      <p:sp>
        <p:nvSpPr>
          <p:cNvPr id="23" name="Metin: Her karakterin kendine özgü bi"/>
          <p:cNvSpPr txBox="1"/>
          <p:nvPr/>
        </p:nvSpPr>
        <p:spPr>
          <a:xfrm>
            <a:off x="6309360" y="27157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Her karakterin kendine özgü bir hamlesi var, örneğin Final Flash.</a:t>
            </a:r>
            <a:endParaRPr lang="tr-TR" sz="1400" dirty="0"/>
          </a:p>
        </p:txBody>
      </p:sp>
      <p:sp>
        <p:nvSpPr>
          <p:cNvPr id="24" name="Rozet 3"/>
          <p:cNvSpPr/>
          <p:nvPr/>
        </p:nvSpPr>
        <p:spPr>
          <a:xfrm>
            <a:off x="5715000" y="3502152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Rozet numarası 3"/>
          <p:cNvSpPr txBox="1"/>
          <p:nvPr/>
        </p:nvSpPr>
        <p:spPr>
          <a:xfrm>
            <a:off x="571500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tr-TR" sz="1600" dirty="0"/>
          </a:p>
        </p:txBody>
      </p:sp>
      <p:sp>
        <p:nvSpPr>
          <p:cNvPr id="26" name="Başlık: Hikâye"/>
          <p:cNvSpPr txBox="1"/>
          <p:nvPr/>
        </p:nvSpPr>
        <p:spPr>
          <a:xfrm>
            <a:off x="630936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8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Hikâye</a:t>
            </a:r>
            <a:endParaRPr lang="tr-TR" sz="1800" dirty="0"/>
          </a:p>
        </p:txBody>
      </p:sp>
      <p:sp>
        <p:nvSpPr>
          <p:cNvPr id="27" name="Metin: Karakterin hikâyesi kartın üze"/>
          <p:cNvSpPr txBox="1"/>
          <p:nvPr/>
        </p:nvSpPr>
        <p:spPr>
          <a:xfrm>
            <a:off x="6309360" y="385876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Karakterin hikâyesi kartın üzerinde okunur.</a:t>
            </a:r>
            <a:endParaRPr lang="tr-T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tr-TR"/>
              <a:t>4</a:t>
            </a:fld>
            <a:endParaRPr lang="tr-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2800" b="1" dirty="0">
                <a:solidFill>
                  <a:schemeClr val="tx1"/>
                </a:solidFill>
              </a:rPr>
              <a:t>Savaş: üç seçenek</a:t>
            </a:r>
            <a:endParaRPr lang="tr-TR" sz="2800" dirty="0"/>
          </a:p>
        </p:txBody>
      </p:sp>
      <p:sp>
        <p:nvSpPr>
          <p:cNvPr id="3" name="Terminal çerçevesi"/>
          <p:cNvSpPr/>
          <p:nvPr/>
        </p:nvSpPr>
        <p:spPr>
          <a:xfrm>
            <a:off x="4114800" y="1188720"/>
            <a:ext cx="4572000" cy="2844018"/>
          </a:xfrm>
          <a:prstGeom prst="roundRect">
            <a:avLst>
              <a:gd name="adj" fmla="val 289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Pencere noktası 1"/>
          <p:cNvSpPr/>
          <p:nvPr/>
        </p:nvSpPr>
        <p:spPr>
          <a:xfrm>
            <a:off x="4251960" y="1280160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Pencere noktası 2"/>
          <p:cNvSpPr/>
          <p:nvPr/>
        </p:nvSpPr>
        <p:spPr>
          <a:xfrm>
            <a:off x="4416552" y="128016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encere noktası 3"/>
          <p:cNvSpPr/>
          <p:nvPr/>
        </p:nvSpPr>
        <p:spPr>
          <a:xfrm>
            <a:off x="4581144" y="128016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Pencere başlığı"/>
          <p:cNvSpPr txBox="1"/>
          <p:nvPr/>
        </p:nvSpPr>
        <p:spPr>
          <a:xfrm>
            <a:off x="4828032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000" dirty="0">
                <a:solidFill>
                  <a:schemeClr val="bg2"/>
                </a:solidFill>
              </a:rPr>
              <a:t>Vegeta  vs  Gojo</a:t>
            </a:r>
            <a:endParaRPr lang="tr-TR" sz="1000" dirty="0"/>
          </a:p>
        </p:txBody>
      </p:sp>
      <p:pic>
        <p:nvPicPr>
          <p:cNvPr id="8" name="Savaş ekranı: Vegeta ve Gojo karşı karşıya, üstte Can çubukları, altta seçenek menüsü" descr="Savaş ekranı: Vegeta ve Gojo karşı karşıya, üstte Can çubukları, altta seçenek menüs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1463040"/>
            <a:ext cx="4425696" cy="2496546"/>
          </a:xfrm>
          <a:prstGeom prst="rect">
            <a:avLst/>
          </a:prstGeom>
        </p:spPr>
      </p:pic>
      <p:sp>
        <p:nvSpPr>
          <p:cNvPr id="9" name="Metin: Sen önce başlarsın. Rakibin Ca"/>
          <p:cNvSpPr txBox="1"/>
          <p:nvPr/>
        </p:nvSpPr>
        <p:spPr>
          <a:xfrm>
            <a:off x="4114800" y="416989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</a:rPr>
              <a:t>Sen önce başlarsın. Rakibin Canı 0'a inince kazanırsın.</a:t>
            </a:r>
            <a:endParaRPr lang="tr-TR" sz="1400" dirty="0"/>
          </a:p>
        </p:txBody>
      </p:sp>
      <p:sp>
        <p:nvSpPr>
          <p:cNvPr id="10" name="Seçenek kartı: Saldır"/>
          <p:cNvSpPr/>
          <p:nvPr/>
        </p:nvSpPr>
        <p:spPr>
          <a:xfrm>
            <a:off x="457200" y="1188720"/>
            <a:ext cx="33832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1" name="Rozet 1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Rozet numarası 1"/>
          <p:cNvSpPr txBox="1"/>
          <p:nvPr/>
        </p:nvSpPr>
        <p:spPr>
          <a:xfrm>
            <a:off x="59436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tr-TR" sz="1600" dirty="0"/>
          </a:p>
        </p:txBody>
      </p:sp>
      <p:sp>
        <p:nvSpPr>
          <p:cNvPr id="13" name="Başlık: Saldır"/>
          <p:cNvSpPr txBox="1"/>
          <p:nvPr/>
        </p:nvSpPr>
        <p:spPr>
          <a:xfrm>
            <a:off x="1188720" y="12618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Saldır</a:t>
            </a:r>
            <a:endParaRPr lang="tr-TR" sz="1600" dirty="0"/>
          </a:p>
        </p:txBody>
      </p:sp>
      <p:sp>
        <p:nvSpPr>
          <p:cNvPr id="14" name="Metin: Hasar = Güç. %12,5 ihtimalle k"/>
          <p:cNvSpPr txBox="1"/>
          <p:nvPr/>
        </p:nvSpPr>
        <p:spPr>
          <a:xfrm>
            <a:off x="1188720" y="16093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Hasar = Güç. %12,5 ihtimalle kritik vuruş (×1,5).</a:t>
            </a:r>
            <a:endParaRPr lang="tr-TR" sz="1400" dirty="0"/>
          </a:p>
        </p:txBody>
      </p:sp>
      <p:sp>
        <p:nvSpPr>
          <p:cNvPr id="15" name="Seçenek kartı: Özel hamle"/>
          <p:cNvSpPr/>
          <p:nvPr/>
        </p:nvSpPr>
        <p:spPr>
          <a:xfrm>
            <a:off x="457200" y="2331720"/>
            <a:ext cx="33832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6" name="Rozet 2"/>
          <p:cNvSpPr/>
          <p:nvPr/>
        </p:nvSpPr>
        <p:spPr>
          <a:xfrm>
            <a:off x="594360" y="26243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Rozet numarası 2"/>
          <p:cNvSpPr txBox="1"/>
          <p:nvPr/>
        </p:nvSpPr>
        <p:spPr>
          <a:xfrm>
            <a:off x="594360" y="2624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tr-TR" sz="1600" dirty="0"/>
          </a:p>
        </p:txBody>
      </p:sp>
      <p:sp>
        <p:nvSpPr>
          <p:cNvPr id="18" name="Başlık: Özel hamle"/>
          <p:cNvSpPr txBox="1"/>
          <p:nvPr/>
        </p:nvSpPr>
        <p:spPr>
          <a:xfrm>
            <a:off x="1188720" y="24048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Özel hamle</a:t>
            </a:r>
            <a:endParaRPr lang="tr-TR" sz="1600" dirty="0"/>
          </a:p>
        </p:txBody>
      </p:sp>
      <p:sp>
        <p:nvSpPr>
          <p:cNvPr id="19" name="Metin: Savaşta bir kez: Güç ×2 hasar,"/>
          <p:cNvSpPr txBox="1"/>
          <p:nvPr/>
        </p:nvSpPr>
        <p:spPr>
          <a:xfrm>
            <a:off x="1188720" y="27523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Savaşta bir kez: Güç ×2 hasar, %75 isabet.</a:t>
            </a:r>
            <a:endParaRPr lang="tr-TR" sz="1400" dirty="0"/>
          </a:p>
        </p:txBody>
      </p:sp>
      <p:sp>
        <p:nvSpPr>
          <p:cNvPr id="20" name="Seçenek kartı: Savun"/>
          <p:cNvSpPr/>
          <p:nvPr/>
        </p:nvSpPr>
        <p:spPr>
          <a:xfrm>
            <a:off x="457200" y="3474720"/>
            <a:ext cx="338328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21" name="Rozet 3"/>
          <p:cNvSpPr/>
          <p:nvPr/>
        </p:nvSpPr>
        <p:spPr>
          <a:xfrm>
            <a:off x="594360" y="376732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Rozet numarası 3"/>
          <p:cNvSpPr txBox="1"/>
          <p:nvPr/>
        </p:nvSpPr>
        <p:spPr>
          <a:xfrm>
            <a:off x="59436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tr-TR" sz="1600" dirty="0"/>
          </a:p>
        </p:txBody>
      </p:sp>
      <p:sp>
        <p:nvSpPr>
          <p:cNvPr id="23" name="Başlık: Savun"/>
          <p:cNvSpPr txBox="1"/>
          <p:nvPr/>
        </p:nvSpPr>
        <p:spPr>
          <a:xfrm>
            <a:off x="1188720" y="35478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Savun</a:t>
            </a:r>
            <a:endParaRPr lang="tr-TR" sz="1600" dirty="0"/>
          </a:p>
        </p:txBody>
      </p:sp>
      <p:sp>
        <p:nvSpPr>
          <p:cNvPr id="24" name="Metin: Gelen hasar yarıya iner, 1 Can"/>
          <p:cNvSpPr txBox="1"/>
          <p:nvPr/>
        </p:nvSpPr>
        <p:spPr>
          <a:xfrm>
            <a:off x="1188720" y="38953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Gelen hasar yarıya iner, 1 Can yenilenir.</a:t>
            </a:r>
            <a:endParaRPr lang="tr-T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tr-TR"/>
              <a:t>5</a:t>
            </a:fld>
            <a:endParaRPr 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2800" b="1" dirty="0">
                <a:solidFill>
                  <a:schemeClr val="tx1"/>
                </a:solidFill>
              </a:rPr>
              <a:t>Her özel hamle kendi animasyonuyla</a:t>
            </a:r>
            <a:endParaRPr lang="tr-TR" sz="2800" dirty="0"/>
          </a:p>
        </p:txBody>
      </p:sp>
      <p:sp>
        <p:nvSpPr>
          <p:cNvPr id="3" name="Terminal çerçevesi"/>
          <p:cNvSpPr/>
          <p:nvPr/>
        </p:nvSpPr>
        <p:spPr>
          <a:xfrm>
            <a:off x="457200" y="1143000"/>
            <a:ext cx="5486400" cy="2363170"/>
          </a:xfrm>
          <a:prstGeom prst="roundRect">
            <a:avLst>
              <a:gd name="adj" fmla="val 348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Pencere noktası 1"/>
          <p:cNvSpPr/>
          <p:nvPr/>
        </p:nvSpPr>
        <p:spPr>
          <a:xfrm>
            <a:off x="594360" y="1234440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Pencere noktası 2"/>
          <p:cNvSpPr/>
          <p:nvPr/>
        </p:nvSpPr>
        <p:spPr>
          <a:xfrm>
            <a:off x="758952" y="123444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encere noktası 3"/>
          <p:cNvSpPr/>
          <p:nvPr/>
        </p:nvSpPr>
        <p:spPr>
          <a:xfrm>
            <a:off x="923544" y="123444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7" name="Pencere başlığı"/>
          <p:cNvSpPr txBox="1"/>
          <p:nvPr/>
        </p:nvSpPr>
        <p:spPr>
          <a:xfrm>
            <a:off x="1170432" y="1143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000" dirty="0">
                <a:solidFill>
                  <a:schemeClr val="bg2"/>
                </a:solidFill>
              </a:rPr>
              <a:t>Vegeta · Final Flash · 6 kare</a:t>
            </a:r>
            <a:endParaRPr lang="tr-TR" sz="1000" dirty="0"/>
          </a:p>
        </p:txBody>
      </p:sp>
      <p:pic>
        <p:nvPicPr>
          <p:cNvPr id="8" name="Vegeta'nın Final Flash hamlesinin animasyon kareleri: enerji toplama, ışın, patlama" descr="Vegeta'nın Final Flash hamlesinin animasyon kareleri: enerji toplama, ışın, pat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17320"/>
            <a:ext cx="5340096" cy="2015698"/>
          </a:xfrm>
          <a:prstGeom prst="rect">
            <a:avLst/>
          </a:prstGeom>
        </p:spPr>
      </p:pic>
      <p:sp>
        <p:nvSpPr>
          <p:cNvPr id="9" name="Hamle türü: Işın"/>
          <p:cNvSpPr/>
          <p:nvPr/>
        </p:nvSpPr>
        <p:spPr>
          <a:xfrm>
            <a:off x="6172200" y="1143000"/>
            <a:ext cx="251460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0" name="Başlık: Işın"/>
          <p:cNvSpPr txBox="1"/>
          <p:nvPr/>
        </p:nvSpPr>
        <p:spPr>
          <a:xfrm>
            <a:off x="6355080" y="11887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Işın</a:t>
            </a:r>
            <a:endParaRPr lang="tr-TR" sz="1400" dirty="0"/>
          </a:p>
        </p:txBody>
      </p:sp>
      <p:sp>
        <p:nvSpPr>
          <p:cNvPr id="11" name="Metin: Kamehameha, Final Flash"/>
          <p:cNvSpPr txBox="1"/>
          <p:nvPr/>
        </p:nvSpPr>
        <p:spPr>
          <a:xfrm>
            <a:off x="6355080" y="1508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Kamehameha, Final Flash</a:t>
            </a:r>
            <a:endParaRPr lang="tr-TR" sz="1400" dirty="0"/>
          </a:p>
        </p:txBody>
      </p:sp>
      <p:sp>
        <p:nvSpPr>
          <p:cNvPr id="12" name="Hamle türü: Küre"/>
          <p:cNvSpPr/>
          <p:nvPr/>
        </p:nvSpPr>
        <p:spPr>
          <a:xfrm>
            <a:off x="6172200" y="1947672"/>
            <a:ext cx="251460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3" name="Başlık: Küre"/>
          <p:cNvSpPr txBox="1"/>
          <p:nvPr/>
        </p:nvSpPr>
        <p:spPr>
          <a:xfrm>
            <a:off x="6355080" y="19933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Küre</a:t>
            </a:r>
            <a:endParaRPr lang="tr-TR" sz="1400" dirty="0"/>
          </a:p>
        </p:txBody>
      </p:sp>
      <p:sp>
        <p:nvSpPr>
          <p:cNvPr id="14" name="Metin: Rasengan, Hollow Purple"/>
          <p:cNvSpPr txBox="1"/>
          <p:nvPr/>
        </p:nvSpPr>
        <p:spPr>
          <a:xfrm>
            <a:off x="6355080" y="2313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Rasengan, Hollow Purple</a:t>
            </a:r>
            <a:endParaRPr lang="tr-TR" sz="1400" dirty="0"/>
          </a:p>
        </p:txBody>
      </p:sp>
      <p:sp>
        <p:nvSpPr>
          <p:cNvPr id="15" name="Hamle türü: Atılma"/>
          <p:cNvSpPr/>
          <p:nvPr/>
        </p:nvSpPr>
        <p:spPr>
          <a:xfrm>
            <a:off x="6172200" y="2752344"/>
            <a:ext cx="2514600" cy="713232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6" name="Başlık: Atılma"/>
          <p:cNvSpPr txBox="1"/>
          <p:nvPr/>
        </p:nvSpPr>
        <p:spPr>
          <a:xfrm>
            <a:off x="6355080" y="279806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Atılma</a:t>
            </a:r>
            <a:endParaRPr lang="tr-TR" sz="1400" dirty="0"/>
          </a:p>
        </p:txBody>
      </p:sp>
      <p:sp>
        <p:nvSpPr>
          <p:cNvPr id="17" name="Metin: Gomu Gomu Pistol, Chidori"/>
          <p:cNvSpPr txBox="1"/>
          <p:nvPr/>
        </p:nvSpPr>
        <p:spPr>
          <a:xfrm>
            <a:off x="6355080" y="31181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Gomu Gomu Pistol, Chidori</a:t>
            </a:r>
            <a:endParaRPr lang="tr-TR" sz="1400" dirty="0"/>
          </a:p>
        </p:txBody>
      </p:sp>
      <p:sp>
        <p:nvSpPr>
          <p:cNvPr id="18" name="Adım 1"/>
          <p:cNvSpPr/>
          <p:nvPr/>
        </p:nvSpPr>
        <p:spPr>
          <a:xfrm>
            <a:off x="457200" y="3794760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9" name="Adım metni 1"/>
          <p:cNvSpPr txBox="1"/>
          <p:nvPr/>
        </p:nvSpPr>
        <p:spPr>
          <a:xfrm>
            <a:off x="457200" y="37947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chemeClr val="tx1"/>
                </a:solidFill>
              </a:rPr>
              <a:t>Enerji toplanır</a:t>
            </a:r>
            <a:endParaRPr lang="tr-TR" sz="1400" dirty="0"/>
          </a:p>
        </p:txBody>
      </p:sp>
      <p:sp>
        <p:nvSpPr>
          <p:cNvPr id="20" name="Ok 1"/>
          <p:cNvSpPr/>
          <p:nvPr/>
        </p:nvSpPr>
        <p:spPr>
          <a:xfrm>
            <a:off x="2331720" y="4005072"/>
            <a:ext cx="182880" cy="23774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1" name="Adım 2"/>
          <p:cNvSpPr/>
          <p:nvPr/>
        </p:nvSpPr>
        <p:spPr>
          <a:xfrm>
            <a:off x="2606040" y="3794760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22" name="Adım metni 2"/>
          <p:cNvSpPr txBox="1"/>
          <p:nvPr/>
        </p:nvSpPr>
        <p:spPr>
          <a:xfrm>
            <a:off x="2606040" y="37947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chemeClr val="tx1"/>
                </a:solidFill>
              </a:rPr>
              <a:t>Hamle hedefe ulaşır</a:t>
            </a:r>
            <a:endParaRPr lang="tr-TR" sz="1400" dirty="0"/>
          </a:p>
        </p:txBody>
      </p:sp>
      <p:sp>
        <p:nvSpPr>
          <p:cNvPr id="23" name="Ok 2"/>
          <p:cNvSpPr/>
          <p:nvPr/>
        </p:nvSpPr>
        <p:spPr>
          <a:xfrm>
            <a:off x="4480560" y="4005072"/>
            <a:ext cx="182880" cy="23774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4" name="Adım 3"/>
          <p:cNvSpPr/>
          <p:nvPr/>
        </p:nvSpPr>
        <p:spPr>
          <a:xfrm>
            <a:off x="4754880" y="3794760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25" name="Adım metni 3"/>
          <p:cNvSpPr txBox="1"/>
          <p:nvPr/>
        </p:nvSpPr>
        <p:spPr>
          <a:xfrm>
            <a:off x="4754880" y="37947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chemeClr val="tx1"/>
                </a:solidFill>
              </a:rPr>
              <a:t>Patlama olur</a:t>
            </a:r>
            <a:endParaRPr lang="tr-TR" sz="1400" dirty="0"/>
          </a:p>
        </p:txBody>
      </p:sp>
      <p:sp>
        <p:nvSpPr>
          <p:cNvPr id="26" name="Ok 3"/>
          <p:cNvSpPr/>
          <p:nvPr/>
        </p:nvSpPr>
        <p:spPr>
          <a:xfrm>
            <a:off x="6629400" y="4005072"/>
            <a:ext cx="182880" cy="237744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27" name="Adım 4"/>
          <p:cNvSpPr/>
          <p:nvPr/>
        </p:nvSpPr>
        <p:spPr>
          <a:xfrm>
            <a:off x="6903720" y="3794760"/>
            <a:ext cx="1783080" cy="658368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28" name="Adım metni 4"/>
          <p:cNvSpPr txBox="1"/>
          <p:nvPr/>
        </p:nvSpPr>
        <p:spPr>
          <a:xfrm>
            <a:off x="6903720" y="379476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chemeClr val="tx1"/>
                </a:solidFill>
              </a:rPr>
              <a:t>Can çubuğu erir</a:t>
            </a:r>
            <a:endParaRPr lang="tr-T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tr-TR"/>
              <a:t>6</a:t>
            </a:fld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2800" b="1" dirty="0">
                <a:solidFill>
                  <a:schemeClr val="tx1"/>
                </a:solidFill>
              </a:rPr>
              <a:t>Terminalde piksel sanatı</a:t>
            </a:r>
            <a:endParaRPr lang="tr-TR" sz="2800" dirty="0"/>
          </a:p>
        </p:txBody>
      </p:sp>
      <p:sp>
        <p:nvSpPr>
          <p:cNvPr id="3" name="Adım kartı: Sprite"/>
          <p:cNvSpPr/>
          <p:nvPr/>
        </p:nvSpPr>
        <p:spPr>
          <a:xfrm>
            <a:off x="457200" y="1188720"/>
            <a:ext cx="2487168" cy="297180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4" name="Rozet 1"/>
          <p:cNvSpPr/>
          <p:nvPr/>
        </p:nvSpPr>
        <p:spPr>
          <a:xfrm>
            <a:off x="621792" y="13167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Rozet numarası 1"/>
          <p:cNvSpPr txBox="1"/>
          <p:nvPr/>
        </p:nvSpPr>
        <p:spPr>
          <a:xfrm>
            <a:off x="621792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tr-TR" sz="1600" dirty="0"/>
          </a:p>
        </p:txBody>
      </p:sp>
      <p:sp>
        <p:nvSpPr>
          <p:cNvPr id="6" name="Başlık: Sprite"/>
          <p:cNvSpPr txBox="1"/>
          <p:nvPr/>
        </p:nvSpPr>
        <p:spPr>
          <a:xfrm>
            <a:off x="1115568" y="131673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Sprite</a:t>
            </a:r>
            <a:endParaRPr lang="tr-TR" sz="1600" dirty="0"/>
          </a:p>
        </p:txBody>
      </p:sp>
      <p:sp>
        <p:nvSpPr>
          <p:cNvPr id="7" name="Ok 1"/>
          <p:cNvSpPr/>
          <p:nvPr/>
        </p:nvSpPr>
        <p:spPr>
          <a:xfrm>
            <a:off x="3044952" y="2514600"/>
            <a:ext cx="182880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8" name="Adım kartı: Yarım blok"/>
          <p:cNvSpPr/>
          <p:nvPr/>
        </p:nvSpPr>
        <p:spPr>
          <a:xfrm>
            <a:off x="3328416" y="1188720"/>
            <a:ext cx="2487168" cy="297180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Rozet 2"/>
          <p:cNvSpPr/>
          <p:nvPr/>
        </p:nvSpPr>
        <p:spPr>
          <a:xfrm>
            <a:off x="3493008" y="13167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Rozet numarası 2"/>
          <p:cNvSpPr txBox="1"/>
          <p:nvPr/>
        </p:nvSpPr>
        <p:spPr>
          <a:xfrm>
            <a:off x="349300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tr-TR" sz="1600" dirty="0"/>
          </a:p>
        </p:txBody>
      </p:sp>
      <p:sp>
        <p:nvSpPr>
          <p:cNvPr id="11" name="Başlık: Yarım blok"/>
          <p:cNvSpPr txBox="1"/>
          <p:nvPr/>
        </p:nvSpPr>
        <p:spPr>
          <a:xfrm>
            <a:off x="3986784" y="131673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Yarım blok</a:t>
            </a:r>
            <a:endParaRPr lang="tr-TR" sz="1600" dirty="0"/>
          </a:p>
        </p:txBody>
      </p:sp>
      <p:sp>
        <p:nvSpPr>
          <p:cNvPr id="12" name="Ok 2"/>
          <p:cNvSpPr/>
          <p:nvPr/>
        </p:nvSpPr>
        <p:spPr>
          <a:xfrm>
            <a:off x="5916168" y="2514600"/>
            <a:ext cx="182880" cy="274320"/>
          </a:xfrm>
          <a:prstGeom prst="rightArrow">
            <a:avLst/>
          </a:prstGeom>
          <a:solidFill>
            <a:schemeClr val="tx2"/>
          </a:solidFill>
          <a:ln/>
        </p:spPr>
      </p:sp>
      <p:sp>
        <p:nvSpPr>
          <p:cNvPr id="13" name="Adım kartı: Üç mod"/>
          <p:cNvSpPr/>
          <p:nvPr/>
        </p:nvSpPr>
        <p:spPr>
          <a:xfrm>
            <a:off x="6199632" y="1188720"/>
            <a:ext cx="2487168" cy="297180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4" name="Rozet 3"/>
          <p:cNvSpPr/>
          <p:nvPr/>
        </p:nvSpPr>
        <p:spPr>
          <a:xfrm>
            <a:off x="6364224" y="131673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Rozet numarası 3"/>
          <p:cNvSpPr txBox="1"/>
          <p:nvPr/>
        </p:nvSpPr>
        <p:spPr>
          <a:xfrm>
            <a:off x="6364224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tr-TR" sz="1600" dirty="0"/>
          </a:p>
        </p:txBody>
      </p:sp>
      <p:sp>
        <p:nvSpPr>
          <p:cNvPr id="16" name="Başlık: Üç mod"/>
          <p:cNvSpPr txBox="1"/>
          <p:nvPr/>
        </p:nvSpPr>
        <p:spPr>
          <a:xfrm>
            <a:off x="6858000" y="1316736"/>
            <a:ext cx="170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Üç mod</a:t>
            </a:r>
            <a:endParaRPr lang="tr-TR" sz="1600" dirty="0"/>
          </a:p>
        </p:txBody>
      </p:sp>
      <p:pic>
        <p:nvPicPr>
          <p:cNvPr id="17" name="Büyütülmüş piksel" descr="Naruto'nun yüzünün büyütülmüş hâli: her kare bir pik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2121408" cy="1484986"/>
          </a:xfrm>
          <a:prstGeom prst="rect">
            <a:avLst/>
          </a:prstGeom>
        </p:spPr>
      </p:pic>
      <p:sp>
        <p:nvSpPr>
          <p:cNvPr id="18" name="Metin: Her karakter 32×36 piksel; her"/>
          <p:cNvSpPr txBox="1"/>
          <p:nvPr/>
        </p:nvSpPr>
        <p:spPr>
          <a:xfrm>
            <a:off x="640080" y="345643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Her karakter 32×36 piksel; her piksel tek bir renk.</a:t>
            </a:r>
            <a:endParaRPr lang="tr-TR" sz="1400" dirty="0"/>
          </a:p>
        </p:txBody>
      </p:sp>
      <p:sp>
        <p:nvSpPr>
          <p:cNvPr id="19" name="Üst piksel"/>
          <p:cNvSpPr/>
          <p:nvPr/>
        </p:nvSpPr>
        <p:spPr>
          <a:xfrm>
            <a:off x="3648456" y="1920240"/>
            <a:ext cx="91440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Alt piksel"/>
          <p:cNvSpPr/>
          <p:nvPr/>
        </p:nvSpPr>
        <p:spPr>
          <a:xfrm>
            <a:off x="3648456" y="2468880"/>
            <a:ext cx="914400" cy="5486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1" name="Metin: üst yarı: yazı rengi"/>
          <p:cNvSpPr txBox="1"/>
          <p:nvPr/>
        </p:nvSpPr>
        <p:spPr>
          <a:xfrm>
            <a:off x="4700016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üst yarı:</a:t>
            </a:r>
            <a:endParaRPr lang="tr-TR" sz="1400" dirty="0"/>
          </a:p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yazı rengi</a:t>
            </a:r>
            <a:endParaRPr lang="tr-TR" sz="1400" dirty="0"/>
          </a:p>
        </p:txBody>
      </p:sp>
      <p:sp>
        <p:nvSpPr>
          <p:cNvPr id="22" name="Metin: alt yarı: zemin rengi"/>
          <p:cNvSpPr txBox="1"/>
          <p:nvPr/>
        </p:nvSpPr>
        <p:spPr>
          <a:xfrm>
            <a:off x="4700016" y="25146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alt yarı:</a:t>
            </a:r>
            <a:endParaRPr lang="tr-TR" sz="1400" dirty="0"/>
          </a:p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zemin rengi</a:t>
            </a:r>
            <a:endParaRPr lang="tr-TR" sz="1400" dirty="0"/>
          </a:p>
        </p:txBody>
      </p:sp>
      <p:sp>
        <p:nvSpPr>
          <p:cNvPr id="23" name="Metin: Yarım blok karakteri: bir hücr"/>
          <p:cNvSpPr txBox="1"/>
          <p:nvPr/>
        </p:nvSpPr>
        <p:spPr>
          <a:xfrm>
            <a:off x="3511296" y="3456432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Yarım blok karakteri: bir hücre iki pikseli birden çizer.</a:t>
            </a:r>
            <a:endParaRPr lang="tr-TR" sz="1400" dirty="0"/>
          </a:p>
        </p:txBody>
      </p:sp>
      <p:sp>
        <p:nvSpPr>
          <p:cNvPr id="24" name="Mod rengi: truecolor"/>
          <p:cNvSpPr/>
          <p:nvPr/>
        </p:nvSpPr>
        <p:spPr>
          <a:xfrm>
            <a:off x="6382512" y="1920240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25" name="Başlık: truecolor"/>
          <p:cNvSpPr txBox="1"/>
          <p:nvPr/>
        </p:nvSpPr>
        <p:spPr>
          <a:xfrm>
            <a:off x="6766560" y="182880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truecolor</a:t>
            </a:r>
            <a:endParaRPr lang="tr-TR" sz="1400" dirty="0"/>
          </a:p>
        </p:txBody>
      </p:sp>
      <p:sp>
        <p:nvSpPr>
          <p:cNvPr id="26" name="Metin: modern terminaller"/>
          <p:cNvSpPr txBox="1"/>
          <p:nvPr/>
        </p:nvSpPr>
        <p:spPr>
          <a:xfrm>
            <a:off x="6766560" y="21214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modern terminaller</a:t>
            </a:r>
            <a:endParaRPr lang="tr-TR" sz="1400" dirty="0"/>
          </a:p>
        </p:txBody>
      </p:sp>
      <p:sp>
        <p:nvSpPr>
          <p:cNvPr id="27" name="Mod rengi: 256 renk"/>
          <p:cNvSpPr/>
          <p:nvPr/>
        </p:nvSpPr>
        <p:spPr>
          <a:xfrm>
            <a:off x="6382512" y="2523744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28" name="Başlık: 256 renk"/>
          <p:cNvSpPr txBox="1"/>
          <p:nvPr/>
        </p:nvSpPr>
        <p:spPr>
          <a:xfrm>
            <a:off x="6766560" y="2432304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renk</a:t>
            </a:r>
            <a:endParaRPr lang="tr-TR" sz="1400" dirty="0"/>
          </a:p>
        </p:txBody>
      </p:sp>
      <p:sp>
        <p:nvSpPr>
          <p:cNvPr id="29" name="Metin: macOS Terminal"/>
          <p:cNvSpPr txBox="1"/>
          <p:nvPr/>
        </p:nvSpPr>
        <p:spPr>
          <a:xfrm>
            <a:off x="6766560" y="272491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macOS Terminal</a:t>
            </a:r>
            <a:endParaRPr lang="tr-TR" sz="1400" dirty="0"/>
          </a:p>
        </p:txBody>
      </p:sp>
      <p:sp>
        <p:nvSpPr>
          <p:cNvPr id="30" name="Mod rengi: ASCII"/>
          <p:cNvSpPr/>
          <p:nvPr/>
        </p:nvSpPr>
        <p:spPr>
          <a:xfrm>
            <a:off x="6382512" y="312724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6"/>
          </a:solidFill>
          <a:ln/>
        </p:spPr>
      </p:sp>
      <p:sp>
        <p:nvSpPr>
          <p:cNvPr id="31" name="Başlık: ASCII"/>
          <p:cNvSpPr txBox="1"/>
          <p:nvPr/>
        </p:nvSpPr>
        <p:spPr>
          <a:xfrm>
            <a:off x="6766560" y="30358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ASCII</a:t>
            </a:r>
            <a:endParaRPr lang="tr-TR" sz="1400" dirty="0"/>
          </a:p>
        </p:txBody>
      </p:sp>
      <p:sp>
        <p:nvSpPr>
          <p:cNvPr id="32" name="Metin: IDLE, Thonny"/>
          <p:cNvSpPr txBox="1"/>
          <p:nvPr/>
        </p:nvSpPr>
        <p:spPr>
          <a:xfrm>
            <a:off x="6766560" y="332841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IDLE, Thonny</a:t>
            </a:r>
            <a:endParaRPr lang="tr-TR" sz="1400" dirty="0"/>
          </a:p>
        </p:txBody>
      </p:sp>
      <p:sp>
        <p:nvSpPr>
          <p:cNvPr id="33" name="Metin: Oyun modu kendisi seçer."/>
          <p:cNvSpPr txBox="1"/>
          <p:nvPr/>
        </p:nvSpPr>
        <p:spPr>
          <a:xfrm>
            <a:off x="6382512" y="370332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</a:rPr>
              <a:t>Oyun modu kendisi seçer.</a:t>
            </a:r>
            <a:endParaRPr lang="tr-TR" sz="1400" dirty="0"/>
          </a:p>
        </p:txBody>
      </p:sp>
      <p:sp>
        <p:nvSpPr>
          <p:cNvPr id="34" name="Metin: Sprite&amp;apos;lar sprites.py içinde d"/>
          <p:cNvSpPr txBox="1"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Sprite'lar sprites.py içinde düz metin: bir harf = bir renk.</a:t>
            </a:r>
            <a:endParaRPr lang="tr-T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tr-TR"/>
              <a:t>7</a:t>
            </a:fld>
            <a:endParaRPr lang="tr-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2800" b="1" dirty="0">
                <a:solidFill>
                  <a:schemeClr val="tx1"/>
                </a:solidFill>
              </a:rPr>
              <a:t>Çizimler nasıl kontrol edildi?</a:t>
            </a:r>
            <a:endParaRPr lang="tr-TR" sz="2800" dirty="0"/>
          </a:p>
        </p:txBody>
      </p:sp>
      <p:sp>
        <p:nvSpPr>
          <p:cNvPr id="3" name="Önce-sonra zemini"/>
          <p:cNvSpPr/>
          <p:nvPr/>
        </p:nvSpPr>
        <p:spPr>
          <a:xfrm>
            <a:off x="457200" y="1188720"/>
            <a:ext cx="4297680" cy="2788920"/>
          </a:xfrm>
          <a:prstGeom prst="roundRect">
            <a:avLst>
              <a:gd name="adj" fmla="val 1967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4" name="Vegeta önce ve sonra" descr="Vegeta sprite'ı: solda alçak kubbe saç, sağda düzeltilmiş uzun alev sa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3840480" cy="2053326"/>
          </a:xfrm>
          <a:prstGeom prst="rect">
            <a:avLst/>
          </a:prstGeom>
        </p:spPr>
      </p:pic>
      <p:sp>
        <p:nvSpPr>
          <p:cNvPr id="5" name="Önce etiketi"/>
          <p:cNvSpPr txBox="1"/>
          <p:nvPr/>
        </p:nvSpPr>
        <p:spPr>
          <a:xfrm>
            <a:off x="73152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ÖNCE</a:t>
            </a:r>
            <a:endParaRPr lang="tr-TR" sz="1400" dirty="0"/>
          </a:p>
        </p:txBody>
      </p:sp>
      <p:sp>
        <p:nvSpPr>
          <p:cNvPr id="6" name="Sonra etiketi"/>
          <p:cNvSpPr txBox="1"/>
          <p:nvPr/>
        </p:nvSpPr>
        <p:spPr>
          <a:xfrm>
            <a:off x="265176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SONRA</a:t>
            </a:r>
            <a:endParaRPr lang="tr-TR" sz="1400" dirty="0"/>
          </a:p>
        </p:txBody>
      </p:sp>
      <p:sp>
        <p:nvSpPr>
          <p:cNvPr id="7" name="Metin: Vegeta&amp;apos;nın saçı alçak kubbeden"/>
          <p:cNvSpPr txBox="1"/>
          <p:nvPr/>
        </p:nvSpPr>
        <p:spPr>
          <a:xfrm>
            <a:off x="45720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</a:rPr>
              <a:t>Vegeta'nın saçı alçak kubbeden uzun aleve dönüştü.</a:t>
            </a:r>
            <a:endParaRPr lang="tr-TR" sz="1400" dirty="0"/>
          </a:p>
        </p:txBody>
      </p:sp>
      <p:sp>
        <p:nvSpPr>
          <p:cNvPr id="8" name="İnceleme kartı: Benzerlik"/>
          <p:cNvSpPr/>
          <p:nvPr/>
        </p:nvSpPr>
        <p:spPr>
          <a:xfrm>
            <a:off x="5029200" y="1188720"/>
            <a:ext cx="3657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9" name="Rozet 1"/>
          <p:cNvSpPr/>
          <p:nvPr/>
        </p:nvSpPr>
        <p:spPr>
          <a:xfrm>
            <a:off x="5166360" y="144475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Rozet numarası 1"/>
          <p:cNvSpPr txBox="1"/>
          <p:nvPr/>
        </p:nvSpPr>
        <p:spPr>
          <a:xfrm>
            <a:off x="5166360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tr-TR" sz="1600" dirty="0"/>
          </a:p>
        </p:txBody>
      </p:sp>
      <p:sp>
        <p:nvSpPr>
          <p:cNvPr id="11" name="Başlık: Benzerlik"/>
          <p:cNvSpPr txBox="1"/>
          <p:nvPr/>
        </p:nvSpPr>
        <p:spPr>
          <a:xfrm>
            <a:off x="5715000" y="12527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Benzerlik</a:t>
            </a:r>
            <a:endParaRPr lang="tr-TR" sz="1600" dirty="0"/>
          </a:p>
        </p:txBody>
      </p:sp>
      <p:sp>
        <p:nvSpPr>
          <p:cNvPr id="12" name="Metin: Bir bakışta karakter tanınıyor"/>
          <p:cNvSpPr txBox="1"/>
          <p:nvPr/>
        </p:nvSpPr>
        <p:spPr>
          <a:xfrm>
            <a:off x="5715000" y="1591056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Bir bakışta karakter tanınıyor mu?</a:t>
            </a:r>
            <a:endParaRPr lang="tr-TR" sz="1400" dirty="0"/>
          </a:p>
        </p:txBody>
      </p:sp>
      <p:sp>
        <p:nvSpPr>
          <p:cNvPr id="13" name="İnceleme kartı: Piksel işçiliği"/>
          <p:cNvSpPr/>
          <p:nvPr/>
        </p:nvSpPr>
        <p:spPr>
          <a:xfrm>
            <a:off x="5029200" y="2212848"/>
            <a:ext cx="3657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4" name="Rozet 2"/>
          <p:cNvSpPr/>
          <p:nvPr/>
        </p:nvSpPr>
        <p:spPr>
          <a:xfrm>
            <a:off x="5166360" y="246888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Rozet numarası 2"/>
          <p:cNvSpPr txBox="1"/>
          <p:nvPr/>
        </p:nvSpPr>
        <p:spPr>
          <a:xfrm>
            <a:off x="516636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tr-TR" sz="1600" dirty="0"/>
          </a:p>
        </p:txBody>
      </p:sp>
      <p:sp>
        <p:nvSpPr>
          <p:cNvPr id="16" name="Başlık: Piksel işçiliği"/>
          <p:cNvSpPr txBox="1"/>
          <p:nvPr/>
        </p:nvSpPr>
        <p:spPr>
          <a:xfrm>
            <a:off x="5715000" y="227685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Piksel işçiliği</a:t>
            </a:r>
            <a:endParaRPr lang="tr-TR" sz="1600" dirty="0"/>
          </a:p>
        </p:txBody>
      </p:sp>
      <p:sp>
        <p:nvSpPr>
          <p:cNvPr id="17" name="Metin: Orijinal 10 karakterle aynı ta"/>
          <p:cNvSpPr txBox="1"/>
          <p:nvPr/>
        </p:nvSpPr>
        <p:spPr>
          <a:xfrm>
            <a:off x="5715000" y="2615184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Orijinal 10 karakterle aynı tarzda mı?</a:t>
            </a:r>
            <a:endParaRPr lang="tr-TR" sz="1400" dirty="0"/>
          </a:p>
        </p:txBody>
      </p:sp>
      <p:sp>
        <p:nvSpPr>
          <p:cNvPr id="18" name="İnceleme kartı: Oyun içi test"/>
          <p:cNvSpPr/>
          <p:nvPr/>
        </p:nvSpPr>
        <p:spPr>
          <a:xfrm>
            <a:off x="5029200" y="3236976"/>
            <a:ext cx="36576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19" name="Rozet 3"/>
          <p:cNvSpPr/>
          <p:nvPr/>
        </p:nvSpPr>
        <p:spPr>
          <a:xfrm>
            <a:off x="5166360" y="34930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Rozet numarası 3"/>
          <p:cNvSpPr txBox="1"/>
          <p:nvPr/>
        </p:nvSpPr>
        <p:spPr>
          <a:xfrm>
            <a:off x="5166360" y="3493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tr-TR" sz="1600" dirty="0"/>
          </a:p>
        </p:txBody>
      </p:sp>
      <p:sp>
        <p:nvSpPr>
          <p:cNvPr id="21" name="Başlık: Oyun içi test"/>
          <p:cNvSpPr txBox="1"/>
          <p:nvPr/>
        </p:nvSpPr>
        <p:spPr>
          <a:xfrm>
            <a:off x="5715000" y="330098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Oyun içi test</a:t>
            </a:r>
            <a:endParaRPr lang="tr-TR" sz="1600" dirty="0"/>
          </a:p>
        </p:txBody>
      </p:sp>
      <p:sp>
        <p:nvSpPr>
          <p:cNvPr id="22" name="Metin: Animasyon, 256 renk ve ekrana "/>
          <p:cNvSpPr txBox="1"/>
          <p:nvPr/>
        </p:nvSpPr>
        <p:spPr>
          <a:xfrm>
            <a:off x="5715000" y="3639312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400" dirty="0">
                <a:solidFill>
                  <a:schemeClr val="tx1"/>
                </a:solidFill>
              </a:rPr>
              <a:t>Animasyon, 256 renk ve ekrana sığma sorunsuz mu?</a:t>
            </a:r>
            <a:endParaRPr lang="tr-TR" sz="1400" dirty="0"/>
          </a:p>
        </p:txBody>
      </p:sp>
      <p:sp>
        <p:nvSpPr>
          <p:cNvPr id="23" name="Metin: 5 paralel çizim → 3 inceleme →"/>
          <p:cNvSpPr txBox="1"/>
          <p:nvPr/>
        </p:nvSpPr>
        <p:spPr>
          <a:xfrm>
            <a:off x="502920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tx1"/>
                </a:solidFill>
              </a:rPr>
              <a:t>5 paralel çizim → 3 inceleme → düzeltme</a:t>
            </a:r>
            <a:endParaRPr lang="tr-T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tr-TR"/>
              <a:t>8</a:t>
            </a:fld>
            <a:endParaRPr 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2800" b="1" dirty="0">
                <a:solidFill>
                  <a:schemeClr val="tx1"/>
                </a:solidFill>
              </a:rPr>
              <a:t>4 hata düzeltildi</a:t>
            </a:r>
            <a:endParaRPr lang="tr-TR" sz="2800" dirty="0"/>
          </a:p>
        </p:txBody>
      </p:sp>
      <p:graphicFrame>
        <p:nvGraphicFramePr>
          <p:cNvPr id="10" name="Hatalar ve düzeltmeler tablos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Hata</a:t>
                      </a:r>
                      <a:endParaRPr lang="tr-TR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tr-TR" sz="1400" b="1" dirty="0">
                          <a:solidFill>
                            <a:schemeClr val="bg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Düzeltme</a:t>
                      </a:r>
                      <a:endParaRPr lang="tr-TR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tr-TR" sz="1400" dirty="0">
                          <a:solidFill>
                            <a:schemeClr val="tx1"/>
                          </a:solidFill>
                        </a:rPr>
                        <a:t>Gon'un kartında anahtar adları farklıydı → KeyError</a:t>
                      </a:r>
                      <a:endParaRPr lang="tr-TR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tr-TR" sz="1400" b="1" dirty="0">
                          <a:solidFill>
                            <a:schemeClr val="tx1"/>
                          </a:solidFill>
                        </a:rPr>
                        <a:t>Tüm kartlarda aynı anahtarlar</a:t>
                      </a:r>
                      <a:endParaRPr lang="tr-TR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tr-TR" sz="1400" dirty="0">
                          <a:solidFill>
                            <a:schemeClr val="tx1"/>
                          </a:solidFill>
                        </a:rPr>
                        <a:t>Kart seçimi yalnızca bilgisayarın kartlarına bakıyordu → TypeError</a:t>
                      </a:r>
                      <a:endParaRPr lang="tr-TR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tr-TR" sz="1400" b="1" dirty="0">
                          <a:solidFill>
                            <a:schemeClr val="tx1"/>
                          </a:solidFill>
                        </a:rPr>
                        <a:t>Oyuncu kendi kartlarından seçer; isim ya da numara kabul edilir</a:t>
                      </a:r>
                      <a:endParaRPr lang="tr-TR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tr-TR" sz="1400" dirty="0">
                          <a:solidFill>
                            <a:schemeClr val="tx1"/>
                          </a:solidFill>
                        </a:rPr>
                        <a:t>Savaş, kartın Can (Sağlık) değerini kalıcı düşürüyordu</a:t>
                      </a:r>
                      <a:endParaRPr lang="tr-TR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tr-TR" sz="1400" b="1" dirty="0">
                          <a:solidFill>
                            <a:schemeClr val="tx1"/>
                          </a:solidFill>
                        </a:rPr>
                        <a:t>Her savaş kartın bir kopyasıyla yapılır</a:t>
                      </a:r>
                      <a:endParaRPr lang="tr-TR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tr-TR" sz="1400" dirty="0">
                          <a:solidFill>
                            <a:schemeClr val="tx1"/>
                          </a:solidFill>
                        </a:rPr>
                        <a:t>Savaş tek, otomatik bir döngüydü; seçim yoktu</a:t>
                      </a:r>
                      <a:endParaRPr lang="tr-TR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tr-TR" sz="1400" b="1" dirty="0">
                          <a:solidFill>
                            <a:schemeClr val="tx1"/>
                          </a:solidFill>
                        </a:rPr>
                        <a:t>Saldır / Özel hamle / Savun menüsü</a:t>
                      </a:r>
                      <a:endParaRPr lang="tr-TR" sz="14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Hata mesajı kutusu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sp>
        <p:nvSpPr>
          <p:cNvPr id="5" name="Hata kutusu noktası 1"/>
          <p:cNvSpPr/>
          <p:nvPr/>
        </p:nvSpPr>
        <p:spPr>
          <a:xfrm>
            <a:off x="621792" y="3840480"/>
            <a:ext cx="91440" cy="9144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Hata kutusu noktası 2"/>
          <p:cNvSpPr/>
          <p:nvPr/>
        </p:nvSpPr>
        <p:spPr>
          <a:xfrm>
            <a:off x="786384" y="3840480"/>
            <a:ext cx="91440" cy="914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Hata kutusu noktası 3"/>
          <p:cNvSpPr/>
          <p:nvPr/>
        </p:nvSpPr>
        <p:spPr>
          <a:xfrm>
            <a:off x="950976" y="3840480"/>
            <a:ext cx="91440" cy="914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8" name="Metin: orijinal kod · kart seçimi"/>
          <p:cNvSpPr txBox="1"/>
          <p:nvPr/>
        </p:nvSpPr>
        <p:spPr>
          <a:xfrm>
            <a:off x="1234440" y="3794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000" dirty="0">
                <a:solidFill>
                  <a:schemeClr val="bg2"/>
                </a:solidFill>
              </a:rPr>
              <a:t>orijinal kod · kart seçimi</a:t>
            </a:r>
            <a:endParaRPr lang="tr-TR" sz="1000" dirty="0"/>
          </a:p>
        </p:txBody>
      </p:sp>
      <p:sp>
        <p:nvSpPr>
          <p:cNvPr id="9" name="Hata mesajı"/>
          <p:cNvSpPr txBox="1"/>
          <p:nvPr/>
        </p:nvSpPr>
        <p:spPr>
          <a:xfrm>
            <a:off x="457200" y="4005072"/>
            <a:ext cx="8229600" cy="457200"/>
          </a:xfrm>
          <a:prstGeom prst="rect">
            <a:avLst/>
          </a:prstGeom>
          <a:noFill/>
          <a:ln/>
        </p:spPr>
        <p:txBody>
          <a:bodyPr wrap="square" lIns="203200" tIns="0" rIns="203200" bIns="0" rtlCol="0" anchor="ctr"/>
          <a:lstStyle/>
          <a:p>
            <a:pPr algn="l" indent="0" marL="0">
              <a:buNone/>
            </a:pPr>
            <a:r>
              <a:rPr lang="tr-TR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card['Guc']  </a:t>
            </a:r>
            <a:pPr algn="l" indent="0" marL="0">
              <a:buNone/>
            </a:pPr>
            <a:r>
              <a:rPr lang="tr-TR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string indices must be integers, not 'str'</a:t>
            </a:r>
            <a:endParaRPr lang="tr-T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tr-TR"/>
              <a:t>9</a:t>
            </a:fld>
            <a:endParaRPr lang="tr-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3600" b="1" dirty="0">
                <a:solidFill>
                  <a:schemeClr val="bg1"/>
                </a:solidFill>
              </a:rPr>
              <a:t>Hadi oynayalım!</a:t>
            </a:r>
            <a:endParaRPr lang="tr-TR" sz="3600" dirty="0"/>
          </a:p>
        </p:txBody>
      </p:sp>
      <p:sp>
        <p:nvSpPr>
          <p:cNvPr id="3" name="Metin: 10 karakterli hatalı koddan 20"/>
          <p:cNvSpPr txBox="1"/>
          <p:nvPr/>
        </p:nvSpPr>
        <p:spPr>
          <a:xfrm>
            <a:off x="548640" y="11430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tr-TR" sz="1600" b="1" dirty="0">
                <a:solidFill>
                  <a:schemeClr val="bg2"/>
                </a:solidFill>
              </a:rPr>
              <a:t>10 karakterli hatalı koddan 20 karakterli piksel sanatlı oyuna.</a:t>
            </a:r>
            <a:endParaRPr lang="tr-TR" sz="1600" dirty="0"/>
          </a:p>
        </p:txBody>
      </p:sp>
      <p:sp>
        <p:nvSpPr>
          <p:cNvPr id="4" name="Komut kutusu"/>
          <p:cNvSpPr/>
          <p:nvPr/>
        </p:nvSpPr>
        <p:spPr>
          <a:xfrm>
            <a:off x="548640" y="1783080"/>
            <a:ext cx="475488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5" name="Komut"/>
          <p:cNvSpPr txBox="1"/>
          <p:nvPr/>
        </p:nvSpPr>
        <p:spPr>
          <a:xfrm>
            <a:off x="548640" y="1783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r-TR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gizemli_tuccar.py</a:t>
            </a:r>
            <a:endParaRPr lang="tr-TR" sz="2200" dirty="0"/>
          </a:p>
        </p:txBody>
      </p:sp>
      <p:sp>
        <p:nvSpPr>
          <p:cNvPr id="6" name="Gereksinimler"/>
          <p:cNvSpPr txBox="1"/>
          <p:nvPr/>
        </p:nvSpPr>
        <p:spPr>
          <a:xfrm>
            <a:off x="548640" y="269748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sz="1600" dirty="0">
                <a:solidFill>
                  <a:schemeClr val="bg2"/>
                </a:solidFill>
              </a:rPr>
              <a:t>Python 3.7 veya üstü</a:t>
            </a:r>
            <a:endParaRPr lang="tr-TR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sz="1600" dirty="0">
                <a:solidFill>
                  <a:schemeClr val="bg2"/>
                </a:solidFill>
              </a:rPr>
              <a:t>Terminal en az 80×24</a:t>
            </a:r>
            <a:endParaRPr lang="tr-TR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tr-TR" sz="1600" dirty="0">
                <a:solidFill>
                  <a:schemeClr val="bg2"/>
                </a:solidFill>
              </a:rPr>
              <a:t>gizemli_tuccar.py ve sprites.py aynı klasörde</a:t>
            </a:r>
            <a:endParaRPr lang="tr-TR" sz="1600" dirty="0"/>
          </a:p>
        </p:txBody>
      </p:sp>
      <p:sp>
        <p:nvSpPr>
          <p:cNvPr id="7" name="Depo bağlantısı"/>
          <p:cNvSpPr txBox="1"/>
          <p:nvPr/>
        </p:nvSpPr>
        <p:spPr>
          <a:xfrm>
            <a:off x="54864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1400" b="1" u="sng" dirty="0">
                <a:solidFill>
                  <a:schemeClr val="accent2"/>
                </a:solidFill>
                <a:hlinkClick r:id="rId1" invalidUrl="" action="" tgtFrame="" tooltip="Oyunun klasörünü aç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github.com/leoguz160/shopping-list/tree/main/gizemli-tuccar</a:t>
            </a:r>
            <a:endParaRPr lang="tr-TR" sz="1400" dirty="0"/>
          </a:p>
        </p:txBody>
      </p:sp>
      <p:sp>
        <p:nvSpPr>
          <p:cNvPr id="8" name="Teşekkür"/>
          <p:cNvSpPr txBox="1"/>
          <p:nvPr/>
        </p:nvSpPr>
        <p:spPr>
          <a:xfrm>
            <a:off x="548640" y="4251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tr-TR" sz="2000" b="1" dirty="0">
                <a:solidFill>
                  <a:schemeClr val="accent1"/>
                </a:solidFill>
              </a:rPr>
              <a:t>Teşekkürler! Sorularınız?</a:t>
            </a:r>
            <a:endParaRPr lang="tr-TR" sz="2000" dirty="0"/>
          </a:p>
        </p:txBody>
      </p:sp>
      <p:sp>
        <p:nvSpPr>
          <p:cNvPr id="9" name="Sprite zemini 1"/>
          <p:cNvSpPr/>
          <p:nvPr/>
        </p:nvSpPr>
        <p:spPr>
          <a:xfrm>
            <a:off x="5852160" y="1600200"/>
            <a:ext cx="1280160" cy="14630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pic>
        <p:nvPicPr>
          <p:cNvPr id="10" name="Sprite 1" descr="Vegeta sprite'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14500"/>
            <a:ext cx="1097280" cy="1234440"/>
          </a:xfrm>
          <a:prstGeom prst="rect">
            <a:avLst/>
          </a:prstGeom>
        </p:spPr>
      </p:pic>
      <p:sp>
        <p:nvSpPr>
          <p:cNvPr id="11" name="Sprite zemini 2"/>
          <p:cNvSpPr/>
          <p:nvPr/>
        </p:nvSpPr>
        <p:spPr>
          <a:xfrm>
            <a:off x="7315200" y="1600200"/>
            <a:ext cx="1280160" cy="14630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pic>
        <p:nvPicPr>
          <p:cNvPr id="12" name="Sprite 2" descr="Sailor Moon sprite'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714500"/>
            <a:ext cx="1097280" cy="1234440"/>
          </a:xfrm>
          <a:prstGeom prst="rect">
            <a:avLst/>
          </a:prstGeom>
        </p:spPr>
      </p:pic>
      <p:sp>
        <p:nvSpPr>
          <p:cNvPr id="13" name="Sprite zemini 3"/>
          <p:cNvSpPr/>
          <p:nvPr/>
        </p:nvSpPr>
        <p:spPr>
          <a:xfrm>
            <a:off x="5852160" y="3200400"/>
            <a:ext cx="1280160" cy="14630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pic>
        <p:nvPicPr>
          <p:cNvPr id="14" name="Sprite 3" descr="Goku sprite'ı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314700"/>
            <a:ext cx="1097280" cy="1234440"/>
          </a:xfrm>
          <a:prstGeom prst="rect">
            <a:avLst/>
          </a:prstGeom>
        </p:spPr>
      </p:pic>
      <p:sp>
        <p:nvSpPr>
          <p:cNvPr id="15" name="Sprite zemini 4"/>
          <p:cNvSpPr/>
          <p:nvPr/>
        </p:nvSpPr>
        <p:spPr>
          <a:xfrm>
            <a:off x="7315200" y="3200400"/>
            <a:ext cx="1280160" cy="146304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pic>
        <p:nvPicPr>
          <p:cNvPr id="16" name="Sprite 4" descr="Ichigo sprite'ı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314700"/>
            <a:ext cx="109728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zemli Tuccar">
  <a:themeElements>
    <a:clrScheme name="Gizemli Tuccar">
      <a:dk1>
        <a:srgbClr val="161A3A"/>
      </a:dk1>
      <a:lt1>
        <a:srgbClr val="FFFFFF"/>
      </a:lt1>
      <a:dk2>
        <a:srgbClr val="2A3270"/>
      </a:dk2>
      <a:lt2>
        <a:srgbClr val="EAF1FB"/>
      </a:lt2>
      <a:accent1>
        <a:srgbClr val="FFD640"/>
      </a:accent1>
      <a:accent2>
        <a:srgbClr val="58A8EC"/>
      </a:accent2>
      <a:accent3>
        <a:srgbClr val="62C05A"/>
      </a:accent3>
      <a:accent4>
        <a:srgbClr val="E04848"/>
      </a:accent4>
      <a:accent5>
        <a:srgbClr val="A66CFF"/>
      </a:accent5>
      <a:accent6>
        <a:srgbClr val="F58A1F"/>
      </a:accent6>
      <a:hlink>
        <a:srgbClr val="58A8EC"/>
      </a:hlink>
      <a:folHlink>
        <a:srgbClr val="A66CFF"/>
      </a:folHlink>
    </a:clrScheme>
    <a:fontScheme name="Gizemli Tuccar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Gizemli Tüccarın Oyunu</dc:title>
  <dc:subject>Pokémon tarzı, piksel sanatlı anime kart savaşı</dc:subject>
  <dc:creator>Gizemli Tüccarın Oyunu</dc:creator>
  <cp:lastModifiedBy>Gizemli Tüccarın Oyunu</cp:lastModifiedBy>
  <cp:revision>1</cp:revision>
  <dcterms:created xsi:type="dcterms:W3CDTF">2026-10-10T18:51:56Z</dcterms:created>
  <dcterms:modified xsi:type="dcterms:W3CDTF">2026-10-10T18:51:56Z</dcterms:modified>
</cp:coreProperties>
</file>